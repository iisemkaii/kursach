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576E02-2EFC-4A1C-8B30-EB28F3B424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961240-483B-4350-88B9-29E0C9F099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6511664-CC7D-4779-9CFB-59F003A0A2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E4BF04E-7C9C-41D4-BF63-D3B70CFE7F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339FBAC-A749-461E-B7B2-BAE9A5AF90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C42D262-8DF1-445F-9AC6-9A2C770237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EDCC6FD-37C7-4744-9904-B5CD3A8D8A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8840D86-394D-4CD2-83C7-BE57D9F9DC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B1B7147-F898-4616-A047-2485AE57F6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666AF8B-F271-41D6-AA5D-CAA64C27E3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075554E-99BF-4FAD-B308-C1705E73C3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2C77CB-E045-487A-9FE2-9E7B6EE1B4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D809BC-77D3-4251-9B3B-466996CC57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B9FACA-AAA1-46CA-BDC4-171F5C0170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F3E900-A340-431F-AA19-106E240D98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4304AA-EA7C-4BBC-AB49-6DF8737CA8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D63AC2-0299-4FB5-8AE0-7C874746B8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638DEF-0BC8-4298-B2CE-3E96C3AEF0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60A9CF-9C56-4EB0-9F9B-1FE4AEC91C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6BA145-D597-40F7-9966-58A2BBBAF4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B312ED-29F7-4BE4-BBE2-A339BB9356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77DBEC-B7A1-4E60-8D4C-AA65991A18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146268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5943600"/>
            <a:ext cx="12191400" cy="91404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0" y="1463040"/>
            <a:ext cx="12191400" cy="91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48640" y="32004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ЧУПО «Высшая школа предпринимательства» (ЧУПО «ВШП»)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48640" y="8686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fddf5"/>
                </a:solidFill>
                <a:latin typeface="Calibri"/>
              </a:rPr>
              <a:t>Дисциплина МДК.11.01 «Технология разработки и защиты баз данных»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2103120"/>
            <a:ext cx="11063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f3864"/>
                </a:solidFill>
                <a:latin typeface="Calibri"/>
              </a:rPr>
              <a:t>КУРСОВОЙ ПРОЕКТ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48640" y="2926080"/>
            <a:ext cx="11063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4472c4"/>
                </a:solidFill>
                <a:latin typeface="Calibri"/>
              </a:rPr>
              <a:t>«Реализация базы данных</a:t>
            </a:r>
            <a:br>
              <a:rPr sz="3000"/>
            </a:br>
            <a:r>
              <a:rPr b="1" lang="en-US" sz="3000" spc="-1" strike="noStrike">
                <a:solidFill>
                  <a:srgbClr val="4472c4"/>
                </a:solidFill>
                <a:latin typeface="Calibri"/>
              </a:rPr>
              <a:t>для системы складского учёта»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3017520" y="4480560"/>
            <a:ext cx="6126120" cy="127980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3291840" y="4617720"/>
            <a:ext cx="566892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Выполнил: студент 3 курса. Азизов С.М.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Руководитель: преподаватель, сева.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СУБД: MySQL 8.0 (Community Edition)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548640" y="6080760"/>
            <a:ext cx="11063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Тверь · 2025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Актуальность темы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2/14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640080" y="1371600"/>
            <a:ext cx="6583320" cy="42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Склад — ключевое звено логистической цепи предприятия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Ручной учёт (бумага, Excel) не гарантирует целостности данных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Ошибки учёта при ручном ведении: 10–15% операций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Пересортица, недостачи, излишки → прямые финансовые потери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Решение — автоматизированная система на базе реляционной БД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222"/>
                </a:solidFill>
                <a:latin typeface="Calibri"/>
              </a:rPr>
              <a:t>Внедрение СУБД снижает долю ошибок до 1–2%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7589520" y="1554480"/>
            <a:ext cx="4023000" cy="420588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5875">
            <a:solidFill>
              <a:srgbClr val="1f38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7772400" y="1783080"/>
            <a:ext cx="3657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Зачем нужна БД?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7863840" y="2468880"/>
            <a:ext cx="365724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Целостность данных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Непротиворечивость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Сохранность сведений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Многопользовательский доступ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Разграничение прав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Цель и задачи проекта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3/14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640080" y="1280160"/>
            <a:ext cx="10881000" cy="9140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868680" y="1418040"/>
            <a:ext cx="104238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Цель: спроектировать и реализовать в MySQL нормализованную (≥3НФ) БД складского учёта с разграничением прав доступа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640080" y="2377440"/>
            <a:ext cx="4571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864"/>
                </a:solidFill>
                <a:latin typeface="Calibri"/>
              </a:rPr>
              <a:t>Задачи: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640080" y="2834640"/>
            <a:ext cx="5486040" cy="16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Проанализировать предметную область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Обосновать выбор СУБД MySQL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Изучить нормализацию и ER-моделирование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Разработать модель данных и ER-диаграмму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6217920" y="2834640"/>
            <a:ext cx="5486040" cy="24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Реализовать структуру БД (DDL) и роли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Создать процедуры, триггер, функцию, представление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Реализовать транзакции и обработку исключений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Протестировать БД и подготовить репозиторий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Объект, предмет и методы исследования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4/14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640080" y="1417320"/>
            <a:ext cx="10881000" cy="141696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868680" y="152712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864"/>
                </a:solidFill>
                <a:latin typeface="Calibri"/>
              </a:rPr>
              <a:t>Объект исследования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868680" y="2011680"/>
            <a:ext cx="10423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Процессы складского учёта товарно-материальных ценностей на предприятии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9"/>
          <p:cNvSpPr/>
          <p:nvPr/>
        </p:nvSpPr>
        <p:spPr>
          <a:xfrm>
            <a:off x="640080" y="3017520"/>
            <a:ext cx="10881000" cy="141696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868680" y="312732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864"/>
                </a:solidFill>
                <a:latin typeface="Calibri"/>
              </a:rPr>
              <a:t>Предмет исследования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868680" y="3611880"/>
            <a:ext cx="10423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Методы и средства проектирования и реализации реляционной БД складского учёта в MySQL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12"/>
          <p:cNvSpPr/>
          <p:nvPr/>
        </p:nvSpPr>
        <p:spPr>
          <a:xfrm>
            <a:off x="640080" y="4617720"/>
            <a:ext cx="10881000" cy="141696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868680" y="472752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864"/>
                </a:solidFill>
                <a:latin typeface="Calibri"/>
              </a:rPr>
              <a:t>Методы исследования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868680" y="5212080"/>
            <a:ext cx="104238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Анализ литературы, ER- и даталогическое моделирование, нормализация, декомпозиция, экспериментальное тестирование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Предметная область: бизнес-процессы склада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5/14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640080" y="118872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3864"/>
                </a:solidFill>
                <a:latin typeface="Calibri"/>
              </a:rPr>
              <a:t>7 ключевых процессов складского учёта: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1875240" y="1717200"/>
            <a:ext cx="8410320" cy="241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640080" y="4389120"/>
            <a:ext cx="1088100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Приёмка → Размещение → Хранение → Комплектация → Отгрузка (основной поток)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Инвентаризация и Перемещение — вспомогательные процессы (воздействуют на хранение)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10"/>
          <p:cNvSpPr/>
          <p:nvPr/>
        </p:nvSpPr>
        <p:spPr>
          <a:xfrm>
            <a:off x="640080" y="5394960"/>
            <a:ext cx="10881000" cy="100548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5875">
            <a:solidFill>
              <a:srgbClr val="1f38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868680" y="5593680"/>
            <a:ext cx="104238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Роли: Администратор (полный доступ) · Кладовщик (операции без изменения структуры и удаления)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875240" y="1620000"/>
            <a:ext cx="8410320" cy="240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Обоснование выбора СУБД MySQL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6/14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7" name="Table 6"/>
          <p:cNvGraphicFramePr/>
          <p:nvPr/>
        </p:nvGraphicFramePr>
        <p:xfrm>
          <a:off x="548640" y="1280160"/>
          <a:ext cx="676620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1325880"/>
                <a:gridCol w="1371600"/>
                <a:gridCol w="1143000"/>
                <a:gridCol w="109728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MySQL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PostgreSQL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MS SQL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Oracle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Лицензия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Свободная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6ea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Open Source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Коммерч.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Коммерч.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Стоимость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Бесплатно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6ea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Бесплатно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Высокая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Оч. высокая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Порог входа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Низкий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6ea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Средний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Средний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Высокий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Транзакции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Да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6ea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Да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Да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Да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Ресурсы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Низкие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6ea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Средние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Высокие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Оч. высокие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128" name="Rounded Rectangle 7"/>
          <p:cNvSpPr/>
          <p:nvPr/>
        </p:nvSpPr>
        <p:spPr>
          <a:xfrm>
            <a:off x="7589520" y="1280160"/>
            <a:ext cx="4023000" cy="457164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7818120" y="141732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e7d32"/>
                </a:solidFill>
                <a:latin typeface="Calibri"/>
              </a:rPr>
              <a:t>Почему MySQL: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7818120" y="2011680"/>
            <a:ext cx="3657240" cy="26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Бесплатна и открыта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Низкий порог входа, MySQL Workbench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InnoDB: транзакции ACID, FK, триггеры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utf8mb4 — корректная кириллица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Низкие требования к ресурсам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Стандарт веб-разработки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Нормализация: структура в 3НФ / BCNF / 4НФ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7/14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6"/>
          <p:cNvSpPr/>
          <p:nvPr/>
        </p:nvSpPr>
        <p:spPr>
          <a:xfrm>
            <a:off x="640080" y="1325880"/>
            <a:ext cx="1279800" cy="8683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640080" y="1578240"/>
            <a:ext cx="1279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1НФ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8"/>
          <p:cNvSpPr/>
          <p:nvPr/>
        </p:nvSpPr>
        <p:spPr>
          <a:xfrm>
            <a:off x="2057400" y="1325880"/>
            <a:ext cx="9509400" cy="868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9"/>
          <p:cNvSpPr/>
          <p:nvPr/>
        </p:nvSpPr>
        <p:spPr>
          <a:xfrm>
            <a:off x="2240280" y="1593360"/>
            <a:ext cx="9143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Все атрибуты атомарны (телефон и e-mail — отдельные поля)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ounded Rectangle 10"/>
          <p:cNvSpPr/>
          <p:nvPr/>
        </p:nvSpPr>
        <p:spPr>
          <a:xfrm>
            <a:off x="640080" y="2313360"/>
            <a:ext cx="1279800" cy="8683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640080" y="2565720"/>
            <a:ext cx="1279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2НФ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12"/>
          <p:cNvSpPr/>
          <p:nvPr/>
        </p:nvSpPr>
        <p:spPr>
          <a:xfrm>
            <a:off x="2057400" y="2313360"/>
            <a:ext cx="9509400" cy="868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3"/>
          <p:cNvSpPr/>
          <p:nvPr/>
        </p:nvSpPr>
        <p:spPr>
          <a:xfrm>
            <a:off x="2240280" y="2580840"/>
            <a:ext cx="9143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Простой суррогатный ключ *_id → нет зависимости от части ключа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14"/>
          <p:cNvSpPr/>
          <p:nvPr/>
        </p:nvSpPr>
        <p:spPr>
          <a:xfrm>
            <a:off x="640080" y="3300840"/>
            <a:ext cx="1279800" cy="8683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5"/>
          <p:cNvSpPr/>
          <p:nvPr/>
        </p:nvSpPr>
        <p:spPr>
          <a:xfrm>
            <a:off x="640080" y="3553200"/>
            <a:ext cx="1279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3НФ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16"/>
          <p:cNvSpPr/>
          <p:nvPr/>
        </p:nvSpPr>
        <p:spPr>
          <a:xfrm>
            <a:off x="2057400" y="3300840"/>
            <a:ext cx="9509400" cy="868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17"/>
          <p:cNvSpPr/>
          <p:nvPr/>
        </p:nvSpPr>
        <p:spPr>
          <a:xfrm>
            <a:off x="2240280" y="3446640"/>
            <a:ext cx="91436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Нет транзитивных зависимостей: категория и поставщик вынесены в отдельные таблицы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18"/>
          <p:cNvSpPr/>
          <p:nvPr/>
        </p:nvSpPr>
        <p:spPr>
          <a:xfrm>
            <a:off x="640080" y="4288680"/>
            <a:ext cx="1279800" cy="8683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19"/>
          <p:cNvSpPr/>
          <p:nvPr/>
        </p:nvSpPr>
        <p:spPr>
          <a:xfrm>
            <a:off x="640080" y="4541040"/>
            <a:ext cx="1279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BCNF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20"/>
          <p:cNvSpPr/>
          <p:nvPr/>
        </p:nvSpPr>
        <p:spPr>
          <a:xfrm>
            <a:off x="2057400" y="4288680"/>
            <a:ext cx="9509400" cy="868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1"/>
          <p:cNvSpPr/>
          <p:nvPr/>
        </p:nvSpPr>
        <p:spPr>
          <a:xfrm>
            <a:off x="2240280" y="4556160"/>
            <a:ext cx="9143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Все детерминанты являются потенциальными ключами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ounded Rectangle 22"/>
          <p:cNvSpPr/>
          <p:nvPr/>
        </p:nvSpPr>
        <p:spPr>
          <a:xfrm>
            <a:off x="640080" y="5276160"/>
            <a:ext cx="1279800" cy="8683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3"/>
          <p:cNvSpPr/>
          <p:nvPr/>
        </p:nvSpPr>
        <p:spPr>
          <a:xfrm>
            <a:off x="640080" y="5528520"/>
            <a:ext cx="1279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4НФ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24"/>
          <p:cNvSpPr/>
          <p:nvPr/>
        </p:nvSpPr>
        <p:spPr>
          <a:xfrm>
            <a:off x="2057400" y="5276160"/>
            <a:ext cx="9509400" cy="868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25"/>
          <p:cNvSpPr/>
          <p:nvPr/>
        </p:nvSpPr>
        <p:spPr>
          <a:xfrm>
            <a:off x="2240280" y="5543640"/>
            <a:ext cx="9143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Каждая операция — единичный факт, многозначных зависимостей нет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ER-диаграмма базы данных (7 таблиц)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8/14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6"/>
          <p:cNvSpPr/>
          <p:nvPr/>
        </p:nvSpPr>
        <p:spPr>
          <a:xfrm>
            <a:off x="528480" y="1440720"/>
            <a:ext cx="8452080" cy="498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ounded Rectangle 8"/>
          <p:cNvSpPr/>
          <p:nvPr/>
        </p:nvSpPr>
        <p:spPr>
          <a:xfrm>
            <a:off x="9144000" y="1371600"/>
            <a:ext cx="2605680" cy="502884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9281160" y="1463040"/>
            <a:ext cx="2377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3864"/>
                </a:solidFill>
                <a:latin typeface="Calibri"/>
              </a:rPr>
              <a:t>Таблицы: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9281160" y="1920240"/>
            <a:ext cx="2377080" cy="22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category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supplier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product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zone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stock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operation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app_user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1"/>
          <p:cNvSpPr/>
          <p:nvPr/>
        </p:nvSpPr>
        <p:spPr>
          <a:xfrm>
            <a:off x="9281160" y="5120640"/>
            <a:ext cx="2377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e7d32"/>
                </a:solidFill>
                <a:latin typeface="Calibri"/>
              </a:rPr>
              <a:t>Связи 1:N</a:t>
            </a:r>
            <a:br>
              <a:rPr sz="1500"/>
            </a:br>
            <a:r>
              <a:rPr b="1" lang="en-US" sz="1500" spc="-1" strike="noStrike">
                <a:solidFill>
                  <a:srgbClr val="2e7d32"/>
                </a:solidFill>
                <a:latin typeface="Calibri"/>
              </a:rPr>
              <a:t>строго по 3НФ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540000" y="1440000"/>
            <a:ext cx="8440560" cy="48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Реализованные объекты БД (чек-лист методички)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11107440" y="274320"/>
            <a:ext cx="55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9/14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ounded Rectangle 6"/>
          <p:cNvSpPr/>
          <p:nvPr/>
        </p:nvSpPr>
        <p:spPr>
          <a:xfrm>
            <a:off x="640080" y="132588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1325880" y="155520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7 связанных таблиц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10"/>
          <p:cNvSpPr/>
          <p:nvPr/>
        </p:nvSpPr>
        <p:spPr>
          <a:xfrm>
            <a:off x="6400800" y="132588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6510600" y="1485360"/>
            <a:ext cx="45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7086600" y="155520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2 роли (admin / storekeeper)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640080" y="219456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6"/>
          <p:cNvSpPr/>
          <p:nvPr/>
        </p:nvSpPr>
        <p:spPr>
          <a:xfrm>
            <a:off x="749880" y="2354040"/>
            <a:ext cx="45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7"/>
          <p:cNvSpPr/>
          <p:nvPr/>
        </p:nvSpPr>
        <p:spPr>
          <a:xfrm>
            <a:off x="1325880" y="242388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6 типовых запросов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18"/>
          <p:cNvSpPr/>
          <p:nvPr/>
        </p:nvSpPr>
        <p:spPr>
          <a:xfrm>
            <a:off x="6400800" y="219456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20"/>
          <p:cNvSpPr/>
          <p:nvPr/>
        </p:nvSpPr>
        <p:spPr>
          <a:xfrm>
            <a:off x="6510600" y="2354040"/>
            <a:ext cx="45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21"/>
          <p:cNvSpPr/>
          <p:nvPr/>
        </p:nvSpPr>
        <p:spPr>
          <a:xfrm>
            <a:off x="7086600" y="242388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Транзакция (перемещение)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22"/>
          <p:cNvSpPr/>
          <p:nvPr/>
        </p:nvSpPr>
        <p:spPr>
          <a:xfrm>
            <a:off x="640080" y="306324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25"/>
          <p:cNvSpPr/>
          <p:nvPr/>
        </p:nvSpPr>
        <p:spPr>
          <a:xfrm>
            <a:off x="1325880" y="329256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3+ локальные переменные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26"/>
          <p:cNvSpPr/>
          <p:nvPr/>
        </p:nvSpPr>
        <p:spPr>
          <a:xfrm>
            <a:off x="6400800" y="306324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9"/>
          <p:cNvSpPr/>
          <p:nvPr/>
        </p:nvSpPr>
        <p:spPr>
          <a:xfrm>
            <a:off x="7086600" y="329256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Условия IF / CASE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ounded Rectangle 30"/>
          <p:cNvSpPr/>
          <p:nvPr/>
        </p:nvSpPr>
        <p:spPr>
          <a:xfrm>
            <a:off x="640080" y="393192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33"/>
          <p:cNvSpPr/>
          <p:nvPr/>
        </p:nvSpPr>
        <p:spPr>
          <a:xfrm>
            <a:off x="1325880" y="416124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2 хранимые процедуры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34"/>
          <p:cNvSpPr/>
          <p:nvPr/>
        </p:nvSpPr>
        <p:spPr>
          <a:xfrm>
            <a:off x="6400800" y="393192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37"/>
          <p:cNvSpPr/>
          <p:nvPr/>
        </p:nvSpPr>
        <p:spPr>
          <a:xfrm>
            <a:off x="7086600" y="416124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Представление v_stock_report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38"/>
          <p:cNvSpPr/>
          <p:nvPr/>
        </p:nvSpPr>
        <p:spPr>
          <a:xfrm>
            <a:off x="640080" y="480060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40"/>
          <p:cNvSpPr/>
          <p:nvPr/>
        </p:nvSpPr>
        <p:spPr>
          <a:xfrm>
            <a:off x="749880" y="4960080"/>
            <a:ext cx="456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41"/>
          <p:cNvSpPr/>
          <p:nvPr/>
        </p:nvSpPr>
        <p:spPr>
          <a:xfrm>
            <a:off x="1325880" y="502992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Триггер автообновления остатков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ounded Rectangle 42"/>
          <p:cNvSpPr/>
          <p:nvPr/>
        </p:nvSpPr>
        <p:spPr>
          <a:xfrm>
            <a:off x="6400800" y="480060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45"/>
          <p:cNvSpPr/>
          <p:nvPr/>
        </p:nvSpPr>
        <p:spPr>
          <a:xfrm>
            <a:off x="7086600" y="502992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Пользовательская функция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46"/>
          <p:cNvSpPr/>
          <p:nvPr/>
        </p:nvSpPr>
        <p:spPr>
          <a:xfrm>
            <a:off x="640080" y="566928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49"/>
          <p:cNvSpPr/>
          <p:nvPr/>
        </p:nvSpPr>
        <p:spPr>
          <a:xfrm>
            <a:off x="1325880" y="589860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Обработчик исключений HANDLER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50"/>
          <p:cNvSpPr/>
          <p:nvPr/>
        </p:nvSpPr>
        <p:spPr>
          <a:xfrm>
            <a:off x="6400800" y="5669280"/>
            <a:ext cx="548604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53"/>
          <p:cNvSpPr/>
          <p:nvPr/>
        </p:nvSpPr>
        <p:spPr>
          <a:xfrm>
            <a:off x="7086600" y="5898600"/>
            <a:ext cx="47088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3НФ / BCNF / 4НФ + ER-диаграмма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Триггер и пользовательская функция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11056320" y="274320"/>
            <a:ext cx="655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10/14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548640" y="114300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e7d32"/>
                </a:solidFill>
                <a:latin typeface="Calibri"/>
              </a:rPr>
              <a:t>Триггер: автообновление остатков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548640" y="1554480"/>
            <a:ext cx="5531760" cy="475452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3716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CREATE TRIGGER trg_operation_after_insert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AFTER INSERT ON operation FOR EACH ROW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BEGIN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DECLARE v_current INT DEFAULT 0;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IF NEW.op_type = 'IN' THEN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INSERT INTO stock(...) VALUES(...)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ON DUPLICATE KEY UPDATE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quantity = quantity + NEW.quantity;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ELSEIF NEW.op_type = 'OUT' THEN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UPDATE stock SET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quantity = quantity - NEW.quantity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WHERE product_id = NEW.product_id;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END IF;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END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6263640" y="114300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e7d32"/>
                </a:solidFill>
                <a:latin typeface="Calibri"/>
              </a:rPr>
              <a:t>Функция: стоимость остатков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9"/>
          <p:cNvSpPr/>
          <p:nvPr/>
        </p:nvSpPr>
        <p:spPr>
          <a:xfrm>
            <a:off x="6263640" y="1554480"/>
            <a:ext cx="5531760" cy="475452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3716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CREATE FUNCTION fn_stock_value(p_id INT)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RETURNS DECIMAL(14,2)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DETERMINISTIC READS SQL DATA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BEGIN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DECLARE v_total_qty INT DEFAULT 0;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DECLARE v_price DECIMAL(10,2) DEFAULT 0;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DECLARE v_value DECIMAL(14,2) DEFAULT 0;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SELECT IFNULL(SUM(quantity),0)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INTO v_total_qty FROM stock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WHERE product_id = p_id;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SELECT price INTO v_price FROM product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WHERE product_id = p_id;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SET v_value = v_total_qty * v_price;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RETURN v_value;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END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Транзакция перемещения + обработка исключений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11056320" y="274320"/>
            <a:ext cx="655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11/14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ounded Rectangle 6"/>
          <p:cNvSpPr/>
          <p:nvPr/>
        </p:nvSpPr>
        <p:spPr>
          <a:xfrm>
            <a:off x="640080" y="1280160"/>
            <a:ext cx="7863480" cy="512028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3716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CREATE PROCEDURE sp_move_product(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IN p_product_id INT, IN p_from_zone INT, IN p_to_zone INT,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IN p_user_id INT, IN p_qty INT, OUT p_result VARCHAR(255))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BEGIN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DECLARE v_available INT DEFAULT 0;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DECLARE EXIT HANDLER FOR SQLEXCEPTION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BEGIN ROLLBACK; SET p_result='Ошибка СУБД: откат.'; END;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START TRANSACTION;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SELECT IFNULL(quantity,0) INTO v_available FROM stock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WHERE product_id=p_product_id AND zone_id=p_from_zone;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IF v_available &lt; p_qty THEN              -- условие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SET p_result='Недостаточно товара.'; ROLLBACK;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ELSE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UPDATE stock SET quantity=quantity-p_qty ...;  -- списание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INSERT INTO stock(...) ON DUPLICATE KEY UPDATE ...; -- зачисление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INSERT INTO operation(...) VALUES(...,'MOVE',...);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COMMIT; SET p_result='Перемещение выполнено.';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END IF;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4d4d4"/>
                </a:solidFill>
                <a:latin typeface="Consolas"/>
              </a:rPr>
              <a:t>END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ounded Rectangle 7"/>
          <p:cNvSpPr/>
          <p:nvPr/>
        </p:nvSpPr>
        <p:spPr>
          <a:xfrm>
            <a:off x="8686800" y="1371600"/>
            <a:ext cx="3062880" cy="484596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8"/>
          <p:cNvSpPr/>
          <p:nvPr/>
        </p:nvSpPr>
        <p:spPr>
          <a:xfrm>
            <a:off x="8869680" y="150876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e7d32"/>
                </a:solidFill>
                <a:latin typeface="Calibri"/>
              </a:rPr>
              <a:t>Атомарность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9"/>
          <p:cNvSpPr/>
          <p:nvPr/>
        </p:nvSpPr>
        <p:spPr>
          <a:xfrm>
            <a:off x="8869680" y="2011680"/>
            <a:ext cx="2742840" cy="24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START TRANSACTION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Списание + зачисление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Запись операции MOVE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COMMIT или ROLLBACK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HANDLER ловит ошибки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500" spc="-1" strike="noStrike">
                <a:solidFill>
                  <a:srgbClr val="222222"/>
                </a:solidFill>
                <a:latin typeface="Calibri"/>
              </a:rPr>
              <a:t>Данные не рассогласуются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Тестирование: результаты запросов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5"/>
          <p:cNvSpPr/>
          <p:nvPr/>
        </p:nvSpPr>
        <p:spPr>
          <a:xfrm>
            <a:off x="11056320" y="274320"/>
            <a:ext cx="655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12/14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6"/>
          <p:cNvSpPr/>
          <p:nvPr/>
        </p:nvSpPr>
        <p:spPr>
          <a:xfrm>
            <a:off x="528480" y="1769760"/>
            <a:ext cx="5571720" cy="13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4" name="Picture 7" descr="scr_stock.png"/>
          <p:cNvPicPr/>
          <p:nvPr/>
        </p:nvPicPr>
        <p:blipFill>
          <a:blip r:embed="rId1"/>
          <a:stretch/>
        </p:blipFill>
        <p:spPr>
          <a:xfrm>
            <a:off x="548640" y="1789920"/>
            <a:ext cx="5531760" cy="1357920"/>
          </a:xfrm>
          <a:prstGeom prst="rect">
            <a:avLst/>
          </a:prstGeom>
          <a:ln w="0">
            <a:noFill/>
          </a:ln>
        </p:spPr>
      </p:pic>
      <p:sp>
        <p:nvSpPr>
          <p:cNvPr id="225" name="Rectangle 8"/>
          <p:cNvSpPr/>
          <p:nvPr/>
        </p:nvSpPr>
        <p:spPr>
          <a:xfrm>
            <a:off x="6243480" y="1771560"/>
            <a:ext cx="5571720" cy="139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6" name="Picture 9" descr="scr_case.png"/>
          <p:cNvPicPr/>
          <p:nvPr/>
        </p:nvPicPr>
        <p:blipFill>
          <a:blip r:embed="rId2"/>
          <a:stretch/>
        </p:blipFill>
        <p:spPr>
          <a:xfrm>
            <a:off x="6263640" y="1791720"/>
            <a:ext cx="5531760" cy="1354320"/>
          </a:xfrm>
          <a:prstGeom prst="rect">
            <a:avLst/>
          </a:prstGeom>
          <a:ln w="0">
            <a:noFill/>
          </a:ln>
        </p:spPr>
      </p:pic>
      <p:sp>
        <p:nvSpPr>
          <p:cNvPr id="227" name="Rectangle 10"/>
          <p:cNvSpPr/>
          <p:nvPr/>
        </p:nvSpPr>
        <p:spPr>
          <a:xfrm>
            <a:off x="528480" y="4467240"/>
            <a:ext cx="5571720" cy="139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8" name="Picture 11" descr="scr_oper.png"/>
          <p:cNvPicPr/>
          <p:nvPr/>
        </p:nvPicPr>
        <p:blipFill>
          <a:blip r:embed="rId3"/>
          <a:stretch/>
        </p:blipFill>
        <p:spPr>
          <a:xfrm>
            <a:off x="548640" y="4487400"/>
            <a:ext cx="5531760" cy="1357920"/>
          </a:xfrm>
          <a:prstGeom prst="rect">
            <a:avLst/>
          </a:prstGeom>
          <a:ln w="0">
            <a:noFill/>
          </a:ln>
        </p:spPr>
      </p:pic>
      <p:sp>
        <p:nvSpPr>
          <p:cNvPr id="229" name="Rectangle 12"/>
          <p:cNvSpPr/>
          <p:nvPr/>
        </p:nvSpPr>
        <p:spPr>
          <a:xfrm>
            <a:off x="6243480" y="4453560"/>
            <a:ext cx="5571720" cy="142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0" name="Picture 13" descr="scr_rights.png"/>
          <p:cNvPicPr/>
          <p:nvPr/>
        </p:nvPicPr>
        <p:blipFill>
          <a:blip r:embed="rId4"/>
          <a:stretch/>
        </p:blipFill>
        <p:spPr>
          <a:xfrm>
            <a:off x="6263640" y="4473720"/>
            <a:ext cx="5531760" cy="138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457200" y="16452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Заключение и перспективы развития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0" y="960120"/>
            <a:ext cx="12191400" cy="72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11056320" y="274320"/>
            <a:ext cx="655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13/14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640080" y="1188720"/>
            <a:ext cx="5486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864"/>
                </a:solidFill>
                <a:latin typeface="Calibri"/>
              </a:rPr>
              <a:t>Результаты: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640080" y="1645920"/>
            <a:ext cx="5668920" cy="26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Цель достигнута: БД складского учёта реализована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Все требования методички выполнены (12/12)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Структура в 3НФ / BCNF / 4НФ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БД протестирована — все запросы корректны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Время отклика на запросы &lt; 5 мс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222"/>
                </a:solidFill>
                <a:latin typeface="Calibri"/>
              </a:rPr>
              <a:t>Ролевая модель работает исправно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ounded Rectangle 8"/>
          <p:cNvSpPr/>
          <p:nvPr/>
        </p:nvSpPr>
        <p:spPr>
          <a:xfrm>
            <a:off x="6492240" y="1463040"/>
            <a:ext cx="5120280" cy="457164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5875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6675120" y="1600200"/>
            <a:ext cx="4754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e7d32"/>
                </a:solidFill>
                <a:latin typeface="Calibri"/>
              </a:rPr>
              <a:t>Перспективы развития: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6675120" y="2148840"/>
            <a:ext cx="4754520" cy="23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Учёт партий и сроков годности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Модуль инвентаризации с актами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Интеграция со штрихкод/QR-сканерами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Отчёты по оборачиваемости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Веб-интерфейс (PHP / Python)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222222"/>
                </a:solidFill>
                <a:latin typeface="Calibri"/>
              </a:rPr>
              <a:t>Поддержка нескольких складов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0" y="2743200"/>
            <a:ext cx="12191400" cy="91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548640" y="1371600"/>
            <a:ext cx="11063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Спасибо за внимание!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548640" y="2194560"/>
            <a:ext cx="11063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cfddf5"/>
                </a:solidFill>
                <a:latin typeface="Calibri"/>
              </a:rPr>
              <a:t>Готов ответить на вопросы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5"/>
          <p:cNvSpPr/>
          <p:nvPr/>
        </p:nvSpPr>
        <p:spPr>
          <a:xfrm>
            <a:off x="5146200" y="3180240"/>
            <a:ext cx="1868400" cy="18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548640" y="5212080"/>
            <a:ext cx="1106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Репозиторий проекта: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548640" y="5623560"/>
            <a:ext cx="1106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9dc3f0"/>
                </a:solidFill>
                <a:latin typeface="Calibri"/>
              </a:rPr>
              <a:t>https://github.com/IisemkaiI/kursach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548640" y="6217920"/>
            <a:ext cx="11063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5146200" y="3180240"/>
            <a:ext cx="1868400" cy="186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2026-06-24T22:14:21Z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